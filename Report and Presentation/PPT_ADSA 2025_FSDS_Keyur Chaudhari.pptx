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Proxima Nova Condensed" panose="020B0604020202020204" charset="0"/>
      <p:regular r:id="rId12"/>
    </p:embeddedFont>
    <p:embeddedFont>
      <p:font typeface="Proxima Nova Condensed Bold" panose="020B0604020202020204" charset="0"/>
      <p:regular r:id="rId13"/>
    </p:embeddedFont>
    <p:embeddedFont>
      <p:font typeface="Touvlo" panose="020B0604020202020204" charset="0"/>
      <p:regular r:id="rId14"/>
    </p:embeddedFont>
    <p:embeddedFont>
      <p:font typeface="Touvl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56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C67EA-F0B2-049F-82C7-698BEAFA3F40}"/>
              </a:ext>
            </a:extLst>
          </p:cNvPr>
          <p:cNvSpPr txBox="1"/>
          <p:nvPr/>
        </p:nvSpPr>
        <p:spPr>
          <a:xfrm>
            <a:off x="3886200" y="1104900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Afternoon!</a:t>
            </a:r>
            <a:endParaRPr lang="en-IN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Confused person with solid fill">
            <a:extLst>
              <a:ext uri="{FF2B5EF4-FFF2-40B4-BE49-F238E27FC236}">
                <a16:creationId xmlns:a16="http://schemas.microsoft.com/office/drawing/2014/main" id="{78942CFF-06EC-7CF2-F8BF-80E142C1F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0" y="3234088"/>
            <a:ext cx="10668000" cy="536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22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417" cy="4816592"/>
            </a:xfrm>
            <a:custGeom>
              <a:avLst/>
              <a:gdLst/>
              <a:ahLst/>
              <a:cxnLst/>
              <a:rect l="l" t="t" r="r" b="b"/>
              <a:pathLst>
                <a:path w="411417" h="4816592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D9DC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42875"/>
              <a:ext cx="411417" cy="4673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765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0"/>
            <a:ext cx="8991600" cy="8724900"/>
            <a:chOff x="0" y="0"/>
            <a:chExt cx="1035548" cy="1004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5548" cy="1004833"/>
            </a:xfrm>
            <a:custGeom>
              <a:avLst/>
              <a:gdLst/>
              <a:ahLst/>
              <a:cxnLst/>
              <a:rect l="l" t="t" r="r" b="b"/>
              <a:pathLst>
                <a:path w="1035548" h="1004833">
                  <a:moveTo>
                    <a:pt x="0" y="0"/>
                  </a:moveTo>
                  <a:lnTo>
                    <a:pt x="1035548" y="0"/>
                  </a:lnTo>
                  <a:lnTo>
                    <a:pt x="1035548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76" r="-2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75300" y="1208723"/>
            <a:ext cx="8324850" cy="3601470"/>
            <a:chOff x="0" y="0"/>
            <a:chExt cx="11099800" cy="4801960"/>
          </a:xfrm>
        </p:grpSpPr>
        <p:sp>
          <p:nvSpPr>
            <p:cNvPr id="8" name="TextBox 8"/>
            <p:cNvSpPr txBox="1"/>
            <p:nvPr/>
          </p:nvSpPr>
          <p:spPr>
            <a:xfrm>
              <a:off x="0" y="209550"/>
              <a:ext cx="11099800" cy="3676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b="1">
                  <a:solidFill>
                    <a:srgbClr val="F4F7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Socio-economic Drivers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146640"/>
              <a:ext cx="11088400" cy="65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47"/>
                </a:lnSpc>
              </a:pPr>
              <a:r>
                <a:rPr lang="en-US" sz="2962">
                  <a:solidFill>
                    <a:srgbClr val="F4F7F9"/>
                  </a:solidFill>
                  <a:latin typeface="Touvlo"/>
                  <a:ea typeface="Touvlo"/>
                  <a:cs typeface="Touvlo"/>
                  <a:sym typeface="Touvlo"/>
                </a:rPr>
                <a:t>of Political Polarization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331592" y="9148198"/>
            <a:ext cx="3974833" cy="906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579">
                <a:solidFill>
                  <a:srgbClr val="2B3A67"/>
                </a:solidFill>
                <a:latin typeface="Touvlo"/>
                <a:ea typeface="Touvlo"/>
                <a:cs typeface="Touvlo"/>
                <a:sym typeface="Touvlo"/>
              </a:rPr>
              <a:t>Ralf Storch</a:t>
            </a:r>
          </a:p>
          <a:p>
            <a:pPr marL="0" lvl="0" indent="0"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2B3A67"/>
                </a:solidFill>
                <a:latin typeface="Touvlo"/>
                <a:ea typeface="Touvlo"/>
                <a:cs typeface="Touvlo"/>
                <a:sym typeface="Touvlo"/>
              </a:rPr>
              <a:t>Frank Schulz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592" y="8775262"/>
            <a:ext cx="3974833" cy="430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4"/>
              </a:lnSpc>
              <a:spcBef>
                <a:spcPct val="0"/>
              </a:spcBef>
            </a:pPr>
            <a:r>
              <a:rPr lang="en-US" sz="2567" b="1">
                <a:solidFill>
                  <a:srgbClr val="2B3A67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PRESENTED TO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620750" y="8791336"/>
            <a:ext cx="4000500" cy="1070786"/>
            <a:chOff x="0" y="0"/>
            <a:chExt cx="5334000" cy="142771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750973"/>
              <a:ext cx="5334000" cy="676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11"/>
                </a:lnSpc>
                <a:spcBef>
                  <a:spcPct val="0"/>
                </a:spcBef>
              </a:pPr>
              <a:r>
                <a:rPr lang="en-US" sz="3079">
                  <a:solidFill>
                    <a:srgbClr val="2B3A67"/>
                  </a:solidFill>
                  <a:latin typeface="Touvlo"/>
                  <a:ea typeface="Touvlo"/>
                  <a:cs typeface="Touvlo"/>
                  <a:sym typeface="Touvlo"/>
                </a:rPr>
                <a:t>DataSmiths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334000" cy="557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b="1">
                  <a:solidFill>
                    <a:srgbClr val="2B3A67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PRESENTED BY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75300" y="5229225"/>
            <a:ext cx="3200400" cy="280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6"/>
              </a:lnSpc>
            </a:pPr>
            <a:r>
              <a:rPr lang="en-US" sz="4036" b="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Team members:</a:t>
            </a:r>
          </a:p>
          <a:p>
            <a:pPr algn="just">
              <a:lnSpc>
                <a:spcPts val="3636"/>
              </a:lnSpc>
            </a:pPr>
            <a:endParaRPr lang="en-US" sz="4036" b="1">
              <a:solidFill>
                <a:srgbClr val="FFFFFF"/>
              </a:solidFill>
              <a:latin typeface="Proxima Nova Condensed Bold"/>
              <a:ea typeface="Proxima Nova Condensed Bold"/>
              <a:cs typeface="Proxima Nova Condensed Bold"/>
              <a:sym typeface="Proxima Nova Condensed Bold"/>
            </a:endParaRPr>
          </a:p>
          <a:p>
            <a:pPr algn="just">
              <a:lnSpc>
                <a:spcPts val="3636"/>
              </a:lnSpc>
            </a:pPr>
            <a:r>
              <a:rPr lang="en-US" sz="3636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Keyur Chaudhari</a:t>
            </a:r>
          </a:p>
          <a:p>
            <a:pPr algn="just">
              <a:lnSpc>
                <a:spcPts val="3636"/>
              </a:lnSpc>
            </a:pPr>
            <a:r>
              <a:rPr lang="en-US" sz="3636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Anish Gaware</a:t>
            </a:r>
          </a:p>
          <a:p>
            <a:pPr algn="just">
              <a:lnSpc>
                <a:spcPts val="3636"/>
              </a:lnSpc>
            </a:pPr>
            <a:r>
              <a:rPr lang="en-US" sz="3636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Yash Annapure</a:t>
            </a:r>
          </a:p>
          <a:p>
            <a:pPr algn="just">
              <a:lnSpc>
                <a:spcPts val="3636"/>
              </a:lnSpc>
              <a:spcBef>
                <a:spcPct val="0"/>
              </a:spcBef>
            </a:pPr>
            <a:r>
              <a:rPr lang="en-US" sz="3636">
                <a:solidFill>
                  <a:srgbClr val="FFFFFF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Mirang Bhandari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72252" y="445320"/>
            <a:ext cx="8324850" cy="4476750"/>
            <a:chOff x="0" y="0"/>
            <a:chExt cx="1287005" cy="692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7005" cy="692097"/>
            </a:xfrm>
            <a:custGeom>
              <a:avLst/>
              <a:gdLst/>
              <a:ahLst/>
              <a:cxnLst/>
              <a:rect l="l" t="t" r="r" b="b"/>
              <a:pathLst>
                <a:path w="1287005" h="692097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678147"/>
                  </a:lnTo>
                  <a:cubicBezTo>
                    <a:pt x="1287005" y="685851"/>
                    <a:pt x="1280760" y="692097"/>
                    <a:pt x="1273056" y="692097"/>
                  </a:cubicBezTo>
                  <a:lnTo>
                    <a:pt x="13950" y="692097"/>
                  </a:lnTo>
                  <a:cubicBezTo>
                    <a:pt x="6245" y="692097"/>
                    <a:pt x="0" y="685851"/>
                    <a:pt x="0" y="678147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t="-29613" b="-2961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838200"/>
            <a:ext cx="6886575" cy="327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Why did we choose this question?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" y="5732515"/>
            <a:ext cx="18135600" cy="142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8"/>
              </a:lnSpc>
              <a:spcBef>
                <a:spcPct val="0"/>
              </a:spcBef>
            </a:pPr>
            <a:r>
              <a:rPr lang="en-US" sz="3600" dirty="0">
                <a:solidFill>
                  <a:srgbClr val="F4F7F9"/>
                </a:solidFill>
                <a:ea typeface="Proxima Nova Condensed"/>
                <a:cs typeface="Proxima Nova Condensed"/>
                <a:sym typeface="Proxima Nova Condensed"/>
              </a:rPr>
              <a:t>To understand which socio-economic and demographic factors drive party vote share across Germany’s 16 states and which regions and voter groups are most influential in shaping electoral outcomes.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214437" y="1214437"/>
            <a:ext cx="10287000" cy="7858125"/>
            <a:chOff x="0" y="0"/>
            <a:chExt cx="2709333" cy="2069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2069630"/>
            </a:xfrm>
            <a:custGeom>
              <a:avLst/>
              <a:gdLst/>
              <a:ahLst/>
              <a:cxnLst/>
              <a:rect l="l" t="t" r="r" b="b"/>
              <a:pathLst>
                <a:path w="2709333" h="2069630">
                  <a:moveTo>
                    <a:pt x="0" y="0"/>
                  </a:moveTo>
                  <a:lnTo>
                    <a:pt x="2709333" y="0"/>
                  </a:lnTo>
                  <a:lnTo>
                    <a:pt x="2709333" y="2069630"/>
                  </a:lnTo>
                  <a:lnTo>
                    <a:pt x="0" y="2069630"/>
                  </a:lnTo>
                  <a:close/>
                </a:path>
              </a:pathLst>
            </a:custGeom>
            <a:solidFill>
              <a:srgbClr val="2B3A6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3" cy="212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05461" y="1838665"/>
            <a:ext cx="8354416" cy="5434904"/>
          </a:xfrm>
          <a:custGeom>
            <a:avLst/>
            <a:gdLst/>
            <a:ahLst/>
            <a:cxnLst/>
            <a:rect l="l" t="t" r="r" b="b"/>
            <a:pathLst>
              <a:path w="8354416" h="5434904">
                <a:moveTo>
                  <a:pt x="0" y="0"/>
                </a:moveTo>
                <a:lnTo>
                  <a:pt x="8354416" y="0"/>
                </a:lnTo>
                <a:lnTo>
                  <a:pt x="8354416" y="5434904"/>
                </a:lnTo>
                <a:lnTo>
                  <a:pt x="0" y="5434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57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838200"/>
            <a:ext cx="5448300" cy="865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Steps:</a:t>
            </a:r>
          </a:p>
          <a:p>
            <a:pPr algn="l">
              <a:lnSpc>
                <a:spcPts val="8499"/>
              </a:lnSpc>
            </a:pPr>
            <a:endParaRPr lang="en-US" sz="8499" b="1">
              <a:solidFill>
                <a:srgbClr val="F4F7F9"/>
              </a:solidFill>
              <a:latin typeface="Proxima Nova Condensed Bold"/>
              <a:ea typeface="Proxima Nova Condensed Bold"/>
              <a:cs typeface="Proxima Nova Condensed Bold"/>
              <a:sym typeface="Proxima Nova Condensed Bold"/>
            </a:endParaRPr>
          </a:p>
          <a:p>
            <a:pPr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Access</a:t>
            </a:r>
          </a:p>
          <a:p>
            <a:pPr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Investigate</a:t>
            </a:r>
          </a:p>
          <a:p>
            <a:pPr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Cleanse</a:t>
            </a:r>
          </a:p>
          <a:p>
            <a:pPr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Analysis</a:t>
            </a:r>
          </a:p>
          <a:p>
            <a:pPr algn="l">
              <a:lnSpc>
                <a:spcPts val="8499"/>
              </a:lnSpc>
            </a:pPr>
            <a:r>
              <a:rPr lang="en-US" sz="8499" b="1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Report</a:t>
            </a:r>
          </a:p>
          <a:p>
            <a:pPr marL="0" lvl="0" indent="0" algn="l">
              <a:lnSpc>
                <a:spcPts val="8499"/>
              </a:lnSpc>
            </a:pPr>
            <a:endParaRPr lang="en-US" sz="8499" b="1">
              <a:solidFill>
                <a:srgbClr val="F4F7F9"/>
              </a:solidFill>
              <a:latin typeface="Proxima Nova Condensed Bold"/>
              <a:ea typeface="Proxima Nova Condensed Bold"/>
              <a:cs typeface="Proxima Nova Condensed Bold"/>
              <a:sym typeface="Proxima Nova Condensed Bol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8324850" cy="7162800"/>
            <a:chOff x="0" y="0"/>
            <a:chExt cx="1287005" cy="110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7005" cy="1107355"/>
            </a:xfrm>
            <a:custGeom>
              <a:avLst/>
              <a:gdLst/>
              <a:ahLst/>
              <a:cxnLst/>
              <a:rect l="l" t="t" r="r" b="b"/>
              <a:pathLst>
                <a:path w="1287005" h="110735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r="-2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2B3A6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6886575" cy="327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2B3A67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Where did we get the data from?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4920423"/>
            <a:ext cx="405765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2B3A67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Access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174684"/>
            <a:chOff x="0" y="0"/>
            <a:chExt cx="1035548" cy="11718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71802"/>
            </a:xfrm>
            <a:custGeom>
              <a:avLst/>
              <a:gdLst/>
              <a:ahLst/>
              <a:cxnLst/>
              <a:rect l="l" t="t" r="r" b="b"/>
              <a:pathLst>
                <a:path w="1035548" h="1171802">
                  <a:moveTo>
                    <a:pt x="0" y="0"/>
                  </a:moveTo>
                  <a:lnTo>
                    <a:pt x="1035548" y="0"/>
                  </a:lnTo>
                  <a:lnTo>
                    <a:pt x="1035548" y="1171802"/>
                  </a:lnTo>
                  <a:lnTo>
                    <a:pt x="0" y="1171802"/>
                  </a:lnTo>
                  <a:close/>
                </a:path>
              </a:pathLst>
            </a:custGeom>
            <a:blipFill>
              <a:blip r:embed="rId2"/>
              <a:stretch>
                <a:fillRect l="-25438" r="-2543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9120050"/>
            <a:ext cx="495645" cy="576750"/>
            <a:chOff x="0" y="0"/>
            <a:chExt cx="6985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2B3A6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5300" y="1208723"/>
            <a:ext cx="8324850" cy="3601470"/>
            <a:chOff x="0" y="0"/>
            <a:chExt cx="11099800" cy="4801960"/>
          </a:xfrm>
        </p:grpSpPr>
        <p:sp>
          <p:nvSpPr>
            <p:cNvPr id="8" name="TextBox 8"/>
            <p:cNvSpPr txBox="1"/>
            <p:nvPr/>
          </p:nvSpPr>
          <p:spPr>
            <a:xfrm>
              <a:off x="0" y="209550"/>
              <a:ext cx="11099800" cy="3676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 b="1">
                  <a:solidFill>
                    <a:srgbClr val="F4F7F9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Socio-economic Drivers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146640"/>
              <a:ext cx="11088400" cy="65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47"/>
                </a:lnSpc>
              </a:pPr>
              <a:r>
                <a:rPr lang="en-US" sz="2962">
                  <a:solidFill>
                    <a:srgbClr val="F4F7F9"/>
                  </a:solidFill>
                  <a:latin typeface="Touvlo"/>
                  <a:ea typeface="Touvlo"/>
                  <a:cs typeface="Touvlo"/>
                  <a:sym typeface="Touvlo"/>
                </a:rPr>
                <a:t>of Political Polarization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9524" y="9230208"/>
            <a:ext cx="1038324" cy="3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2"/>
              </a:lnSpc>
            </a:pPr>
            <a:r>
              <a:rPr lang="en-US" sz="2962">
                <a:solidFill>
                  <a:srgbClr val="2B3A67"/>
                </a:solidFill>
                <a:latin typeface="Touvlo"/>
                <a:ea typeface="Touvlo"/>
                <a:cs typeface="Touvlo"/>
                <a:sym typeface="Touvlo"/>
              </a:rPr>
              <a:t>ADSA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750" y="6234259"/>
            <a:ext cx="6038850" cy="1120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Investigate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214437" y="1214437"/>
            <a:ext cx="10287000" cy="7858125"/>
            <a:chOff x="0" y="0"/>
            <a:chExt cx="2709333" cy="2069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2069630"/>
            </a:xfrm>
            <a:custGeom>
              <a:avLst/>
              <a:gdLst/>
              <a:ahLst/>
              <a:cxnLst/>
              <a:rect l="l" t="t" r="r" b="b"/>
              <a:pathLst>
                <a:path w="2709333" h="2069630">
                  <a:moveTo>
                    <a:pt x="0" y="0"/>
                  </a:moveTo>
                  <a:lnTo>
                    <a:pt x="2709333" y="0"/>
                  </a:lnTo>
                  <a:lnTo>
                    <a:pt x="2709333" y="2069630"/>
                  </a:lnTo>
                  <a:lnTo>
                    <a:pt x="0" y="2069630"/>
                  </a:lnTo>
                  <a:close/>
                </a:path>
              </a:pathLst>
            </a:custGeom>
            <a:solidFill>
              <a:srgbClr val="6C8BB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3" cy="212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803462" y="1028700"/>
            <a:ext cx="7880768" cy="7457177"/>
          </a:xfrm>
          <a:custGeom>
            <a:avLst/>
            <a:gdLst/>
            <a:ahLst/>
            <a:cxnLst/>
            <a:rect l="l" t="t" r="r" b="b"/>
            <a:pathLst>
              <a:path w="7880768" h="7457177">
                <a:moveTo>
                  <a:pt x="0" y="0"/>
                </a:moveTo>
                <a:lnTo>
                  <a:pt x="7880768" y="0"/>
                </a:lnTo>
                <a:lnTo>
                  <a:pt x="7880768" y="7457177"/>
                </a:lnTo>
                <a:lnTo>
                  <a:pt x="0" y="7457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3540124"/>
            <a:ext cx="5448300" cy="194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79"/>
              </a:lnSpc>
            </a:pPr>
            <a:r>
              <a:rPr lang="en-US" sz="3699" b="1" spc="-73">
                <a:solidFill>
                  <a:srgbClr val="F4F7F9"/>
                </a:solidFill>
                <a:latin typeface="Touvlo Bold"/>
                <a:ea typeface="Touvlo Bold"/>
                <a:cs typeface="Touvlo Bold"/>
                <a:sym typeface="Touvlo Bold"/>
              </a:rPr>
              <a:t>How we cleaned the raw data and created master table?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6346075"/>
            <a:ext cx="4819650" cy="1120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Cleaning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8324850" cy="7162800"/>
            <a:chOff x="0" y="0"/>
            <a:chExt cx="1287005" cy="110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7005" cy="1107355"/>
            </a:xfrm>
            <a:custGeom>
              <a:avLst/>
              <a:gdLst/>
              <a:ahLst/>
              <a:cxnLst/>
              <a:rect l="l" t="t" r="r" b="b"/>
              <a:pathLst>
                <a:path w="1287005" h="110735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r="-2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67820"/>
            </a:xfrm>
            <a:custGeom>
              <a:avLst/>
              <a:gdLst/>
              <a:ahLst/>
              <a:cxnLst/>
              <a:rect l="l" t="t" r="r" b="b"/>
              <a:pathLst>
                <a:path w="2709333" h="67820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2B3A6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709333" cy="86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6886575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</a:pPr>
            <a:r>
              <a:rPr lang="en-US" sz="8499" b="1">
                <a:solidFill>
                  <a:srgbClr val="2B3A67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2915596"/>
            <a:ext cx="7703376" cy="228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  <a:spcBef>
                <a:spcPct val="0"/>
              </a:spcBef>
            </a:pPr>
            <a:r>
              <a:rPr lang="en-US" sz="4450">
                <a:solidFill>
                  <a:srgbClr val="2B3A67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We used SAS Viya for analysing and visualising the database to find the correlations between the socio-economic factors.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147445" y="1214437"/>
            <a:ext cx="10287000" cy="7858125"/>
            <a:chOff x="0" y="0"/>
            <a:chExt cx="2709333" cy="2069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2069630"/>
            </a:xfrm>
            <a:custGeom>
              <a:avLst/>
              <a:gdLst/>
              <a:ahLst/>
              <a:cxnLst/>
              <a:rect l="l" t="t" r="r" b="b"/>
              <a:pathLst>
                <a:path w="2709333" h="2069630">
                  <a:moveTo>
                    <a:pt x="0" y="0"/>
                  </a:moveTo>
                  <a:lnTo>
                    <a:pt x="2709333" y="0"/>
                  </a:lnTo>
                  <a:lnTo>
                    <a:pt x="2709333" y="2069630"/>
                  </a:lnTo>
                  <a:lnTo>
                    <a:pt x="0" y="2069630"/>
                  </a:lnTo>
                  <a:close/>
                </a:path>
              </a:pathLst>
            </a:custGeom>
            <a:solidFill>
              <a:srgbClr val="6C8BB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3" cy="212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92110" y="0"/>
            <a:ext cx="10295890" cy="10287000"/>
          </a:xfrm>
          <a:custGeom>
            <a:avLst/>
            <a:gdLst/>
            <a:ahLst/>
            <a:cxnLst/>
            <a:rect l="l" t="t" r="r" b="b"/>
            <a:pathLst>
              <a:path w="10295890" h="10287000">
                <a:moveTo>
                  <a:pt x="0" y="0"/>
                </a:moveTo>
                <a:lnTo>
                  <a:pt x="10295890" y="0"/>
                </a:lnTo>
                <a:lnTo>
                  <a:pt x="10295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170" r="-279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7493" y="1634325"/>
            <a:ext cx="7992110" cy="195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</a:pPr>
            <a:r>
              <a:rPr lang="en-US" sz="7500">
                <a:solidFill>
                  <a:srgbClr val="F4F7F9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Report creation and Recommendations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182292" cy="11660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2292" cy="1166096"/>
            </a:xfrm>
            <a:custGeom>
              <a:avLst/>
              <a:gdLst/>
              <a:ahLst/>
              <a:cxnLst/>
              <a:rect l="l" t="t" r="r" b="b"/>
              <a:pathLst>
                <a:path w="1182292" h="1166096">
                  <a:moveTo>
                    <a:pt x="0" y="0"/>
                  </a:moveTo>
                  <a:lnTo>
                    <a:pt x="1182292" y="0"/>
                  </a:lnTo>
                  <a:lnTo>
                    <a:pt x="1182292" y="1166096"/>
                  </a:lnTo>
                  <a:lnTo>
                    <a:pt x="0" y="1166096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838200"/>
            <a:ext cx="6886575" cy="112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499"/>
              </a:lnSpc>
            </a:pPr>
            <a:r>
              <a:rPr lang="en-US" sz="8499" b="1" dirty="0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Danke Schön!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3327048"/>
            <a:ext cx="5429250" cy="1120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F4F7F9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Questions?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128</Words>
  <Application>Microsoft Office PowerPoint</Application>
  <PresentationFormat>Custom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Touvlo Bold</vt:lpstr>
      <vt:lpstr>Calibri</vt:lpstr>
      <vt:lpstr>Arial</vt:lpstr>
      <vt:lpstr>Proxima Nova Condensed</vt:lpstr>
      <vt:lpstr>Touvlo</vt:lpstr>
      <vt:lpstr>Proxima Nova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to</dc:title>
  <cp:lastModifiedBy>Keyur Chaudhari</cp:lastModifiedBy>
  <cp:revision>2</cp:revision>
  <dcterms:created xsi:type="dcterms:W3CDTF">2006-08-16T00:00:00Z</dcterms:created>
  <dcterms:modified xsi:type="dcterms:W3CDTF">2025-11-14T12:10:46Z</dcterms:modified>
  <dc:identifier>DAG4qvh4mRE</dc:identifier>
</cp:coreProperties>
</file>